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  <Relationship Id="rId24" Type="http://schemas.openxmlformats.org/officeDocument/2006/relationships/slide" Target="slides/slide23.xml"/>
  <Relationship Id="rId25" Type="http://schemas.openxmlformats.org/officeDocument/2006/relationships/slide" Target="slides/slide24.xml"/>
  <Relationship Id="rId26" Type="http://schemas.openxmlformats.org/officeDocument/2006/relationships/slide" Target="slides/slide25.xml"/>
  <Relationship Id="rId27" Type="http://schemas.openxmlformats.org/officeDocument/2006/relationships/slide" Target="slides/slide26.xml"/>
  <Relationship Id="rId28" Type="http://schemas.openxmlformats.org/officeDocument/2006/relationships/slide" Target="slides/slide27.xml"/>
  <Relationship Id="rId29" Type="http://schemas.openxmlformats.org/officeDocument/2006/relationships/slide" Target="slides/slide28.xml"/>
  <Relationship Id="rId30" Type="http://schemas.openxmlformats.org/officeDocument/2006/relationships/slide" Target="slides/slide29.xml"/>
  <Relationship Id="rId31" Type="http://schemas.openxmlformats.org/officeDocument/2006/relationships/slide" Target="slides/slide30.xml"/>
  <Relationship Id="rId32" Type="http://schemas.openxmlformats.org/officeDocument/2006/relationships/slide" Target="slides/slide31.xml"/>
  <Relationship Id="rId33" Type="http://schemas.openxmlformats.org/officeDocument/2006/relationships/slide" Target="slides/slide32.xml"/>
  <Relationship Id="rId34" Type="http://schemas.openxmlformats.org/officeDocument/2006/relationships/slide" Target="slides/slide33.xml"/>
  <Relationship Id="rId35" Type="http://schemas.openxmlformats.org/officeDocument/2006/relationships/slide" Target="slides/slide34.xml"/>
  <Relationship Id="rId36" Type="http://schemas.openxmlformats.org/officeDocument/2006/relationships/slide" Target="slides/slide35.xml"/>
  <Relationship Id="rId37" Type="http://schemas.openxmlformats.org/officeDocument/2006/relationships/slide" Target="slides/slide36.xml"/>
  <Relationship Id="rId38" Type="http://schemas.openxmlformats.org/officeDocument/2006/relationships/slide" Target="slides/slide37.xml"/>
  <Relationship Id="rId39" Type="http://schemas.openxmlformats.org/officeDocument/2006/relationships/slide" Target="slides/slide38.xml"/>
  <Relationship Id="rId40" Type="http://schemas.openxmlformats.org/officeDocument/2006/relationships/slide" Target="slides/slide39.xml"/>
  <Relationship Id="rId41" Type="http://schemas.openxmlformats.org/officeDocument/2006/relationships/slide" Target="slides/slide40.xml"/>
  <Relationship Id="rId42" Type="http://schemas.openxmlformats.org/officeDocument/2006/relationships/slide" Target="slides/slide41.xml"/>
  <Relationship Id="rId43" Type="http://schemas.openxmlformats.org/officeDocument/2006/relationships/slide" Target="slides/slide42.xml"/>
  <Relationship Id="rId44" Type="http://schemas.openxmlformats.org/officeDocument/2006/relationships/slide" Target="slides/slide43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algn="l">
        <a:defRPr sz="2800" kern="1200">
          <a:solidFill>
            <a:schemeClr val="tx1"/>
          </a:solidFill>
          <a:latin typeface="+mn-lt"/>
        </a:defRPr>
      </a:lvl1pPr>
    </p:bodyStyle>
    <p:otherStyle>
      <a:lvl1pPr algn="l">
        <a:defRPr sz="1800" kern="12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FastAPI + Next.js + ClinicalBERT + FAISS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94360" y="502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700" b="1">
                <a:solidFill>
                  <a:srgbClr val="38BDF8"/>
                </a:solidFill>
                <a:latin typeface="Aptos"/>
              </a:rPr>
              <a:t>Nabda Project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94360" y="1417320"/>
            <a:ext cx="8321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4200" b="1">
                <a:solidFill>
                  <a:srgbClr val="FFFFFF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21792" y="2743200"/>
            <a:ext cx="704088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000" b="0">
                <a:solidFill>
                  <a:srgbClr val="A9C2DA"/>
                </a:solidFill>
                <a:latin typeface="Aptos"/>
              </a:rPr>
              <a:t>A bilingual medical assistant prototype for symptom triage, report OCR, lab analysis, AI-assisted diagnosis, mental support, and doctor handoff.</a:t>
            </a:r>
          </a:p>
        </p:txBody>
      </p:sp>
      <p:sp>
        <p:nvSpPr>
          <p:cNvPr id="18" name="Shape 18"/>
          <p:cNvSpPr/>
          <p:nvPr/>
        </p:nvSpPr>
        <p:spPr>
          <a:xfrm>
            <a:off x="658368" y="3730752"/>
            <a:ext cx="1965960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58368" y="37307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100" b="1">
                <a:solidFill>
                  <a:srgbClr val="EAF6FF"/>
                </a:solidFill>
                <a:latin typeface="Aptos"/>
              </a:rPr>
              <a:t>English</a:t>
            </a:r>
          </a:p>
        </p:txBody>
      </p:sp>
      <p:sp>
        <p:nvSpPr>
          <p:cNvPr id="20" name="Shape 20"/>
          <p:cNvSpPr/>
          <p:nvPr/>
        </p:nvSpPr>
        <p:spPr>
          <a:xfrm>
            <a:off x="2807208" y="3730752"/>
            <a:ext cx="1965960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2807208" y="37307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100" b="1">
                <a:solidFill>
                  <a:srgbClr val="EAF6FF"/>
                </a:solidFill>
                <a:latin typeface="Aptos"/>
              </a:rPr>
              <a:t>Arabic-ready</a:t>
            </a:r>
          </a:p>
        </p:txBody>
      </p:sp>
      <p:sp>
        <p:nvSpPr>
          <p:cNvPr id="22" name="Shape 22"/>
          <p:cNvSpPr/>
          <p:nvPr/>
        </p:nvSpPr>
        <p:spPr>
          <a:xfrm>
            <a:off x="4956048" y="3730752"/>
            <a:ext cx="1965960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4956048" y="37307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100" b="1">
                <a:solidFill>
                  <a:srgbClr val="EAF6FF"/>
                </a:solidFill>
                <a:latin typeface="Aptos"/>
              </a:rPr>
              <a:t>Medical NLP</a:t>
            </a:r>
          </a:p>
        </p:txBody>
      </p:sp>
      <p:sp>
        <p:nvSpPr>
          <p:cNvPr id="24" name="Shape 24"/>
          <p:cNvSpPr/>
          <p:nvPr/>
        </p:nvSpPr>
        <p:spPr>
          <a:xfrm>
            <a:off x="7104888" y="3730752"/>
            <a:ext cx="1965960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7104888" y="37307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100" b="1">
                <a:solidFill>
                  <a:srgbClr val="EAF6FF"/>
                </a:solidFill>
                <a:latin typeface="Aptos"/>
              </a:rPr>
              <a:t>Decision Support</a:t>
            </a:r>
          </a:p>
        </p:txBody>
      </p:sp>
      <p:sp>
        <p:nvSpPr>
          <p:cNvPr id="26" name="Shape 26"/>
          <p:cNvSpPr/>
          <p:nvPr/>
        </p:nvSpPr>
        <p:spPr>
          <a:xfrm>
            <a:off x="8046720" y="1097280"/>
            <a:ext cx="338328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321040" y="14173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1">
                <a:solidFill>
                  <a:srgbClr val="38BDF8"/>
                </a:solidFill>
                <a:latin typeface="Aptos"/>
              </a:rPr>
              <a:t>Project Scope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321040" y="2011680"/>
            <a:ext cx="278892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Symptom triage and follow-up</a:t>
            </a:r>
          </a:p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Medical report OCR and lab parsing</a:t>
            </a:r>
          </a:p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AI diagnosis fusion with safety checks</a:t>
            </a:r>
          </a:p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Mental support as a separate guarded feature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README.md and backend/docs/PROJECT_ARTIFACTS_STRUCTURE.md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Project Coverage Map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41247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41247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Next.js active app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8696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Assistant, doctors, services, contact, mental support</a:t>
            </a:r>
          </a:p>
        </p:txBody>
      </p:sp>
      <p:sp>
        <p:nvSpPr>
          <p:cNvPr id="20" name="Shape 20"/>
          <p:cNvSpPr/>
          <p:nvPr/>
        </p:nvSpPr>
        <p:spPr>
          <a:xfrm>
            <a:off x="436168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454456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54456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FastAPI API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59028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Pipeline, auth, chat history, health, chat, mental support</a:t>
            </a:r>
          </a:p>
        </p:txBody>
      </p:sp>
      <p:sp>
        <p:nvSpPr>
          <p:cNvPr id="24" name="Shape 24"/>
          <p:cNvSpPr/>
          <p:nvPr/>
        </p:nvSpPr>
        <p:spPr>
          <a:xfrm>
            <a:off x="806500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24788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NLP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4788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Clinical pipeline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9360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Parser, validator, normalizer, classifier, RAG, rules</a:t>
            </a:r>
          </a:p>
        </p:txBody>
      </p:sp>
      <p:sp>
        <p:nvSpPr>
          <p:cNvPr id="28" name="Shape 28"/>
          <p:cNvSpPr/>
          <p:nvPr/>
        </p:nvSpPr>
        <p:spPr>
          <a:xfrm>
            <a:off x="65836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41247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Artifacts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41247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Saved model bundles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8696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49 labels, 12,025 FAISS vectors, test predictions</a:t>
            </a:r>
          </a:p>
        </p:txBody>
      </p:sp>
      <p:sp>
        <p:nvSpPr>
          <p:cNvPr id="32" name="Shape 32"/>
          <p:cNvSpPr/>
          <p:nvPr/>
        </p:nvSpPr>
        <p:spPr>
          <a:xfrm>
            <a:off x="436168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454456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Safety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54456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Guardrails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59028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Scope gating, clarification, crisis and medication safeguards</a:t>
            </a:r>
          </a:p>
        </p:txBody>
      </p:sp>
      <p:sp>
        <p:nvSpPr>
          <p:cNvPr id="36" name="Shape 36"/>
          <p:cNvSpPr/>
          <p:nvPr/>
        </p:nvSpPr>
        <p:spPr>
          <a:xfrm>
            <a:off x="806500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24788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24788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Reproducible scripts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29360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Classifier, RAG, pipeline, mental model diagnostics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3035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"/>
              </a:rPr>
              <a:t>Our Agenda</a:t>
            </a:r>
          </a:p>
        </p:txBody>
      </p:sp>
      <p:sp>
        <p:nvSpPr>
          <p:cNvPr id="16" name="Shape 16"/>
          <p:cNvSpPr/>
          <p:nvPr/>
        </p:nvSpPr>
        <p:spPr>
          <a:xfrm>
            <a:off x="713232" y="1417320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50392" y="151790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426464" y="1472184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Introduction</a:t>
            </a:r>
          </a:p>
        </p:txBody>
      </p:sp>
      <p:sp>
        <p:nvSpPr>
          <p:cNvPr id="19" name="Shape 19"/>
          <p:cNvSpPr/>
          <p:nvPr/>
        </p:nvSpPr>
        <p:spPr>
          <a:xfrm>
            <a:off x="6199632" y="1417320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6336792" y="151790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912864" y="1472184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Problem Definition and Motivation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713232" y="2286000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50392" y="238658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426464" y="2340864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Main Objectives</a:t>
            </a:r>
          </a:p>
        </p:txBody>
      </p:sp>
      <p:sp>
        <p:nvSpPr>
          <p:cNvPr id="25" name="Shape 25"/>
          <p:cNvSpPr/>
          <p:nvPr/>
        </p:nvSpPr>
        <p:spPr>
          <a:xfrm>
            <a:off x="6199632" y="2286000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6336792" y="238658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912864" y="2340864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System Architecture</a:t>
            </a:r>
          </a:p>
        </p:txBody>
      </p:sp>
      <p:sp>
        <p:nvSpPr>
          <p:cNvPr id="28" name="Shape 28"/>
          <p:cNvSpPr/>
          <p:nvPr/>
        </p:nvSpPr>
        <p:spPr>
          <a:xfrm>
            <a:off x="713232" y="3154680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50392" y="325526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426464" y="3209544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Phase Description</a:t>
            </a:r>
          </a:p>
        </p:txBody>
      </p:sp>
      <p:sp>
        <p:nvSpPr>
          <p:cNvPr id="31" name="Shape 31"/>
          <p:cNvSpPr/>
          <p:nvPr/>
        </p:nvSpPr>
        <p:spPr>
          <a:xfrm>
            <a:off x="6199632" y="3154680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336792" y="325526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912864" y="3209544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Artifacts and Case Sets</a:t>
            </a:r>
          </a:p>
        </p:txBody>
      </p:sp>
      <p:sp>
        <p:nvSpPr>
          <p:cNvPr id="34" name="Shape 34"/>
          <p:cNvSpPr/>
          <p:nvPr/>
        </p:nvSpPr>
        <p:spPr>
          <a:xfrm>
            <a:off x="713232" y="4023359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850392" y="412394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426464" y="4078223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Experimental Results</a:t>
            </a:r>
          </a:p>
        </p:txBody>
      </p:sp>
      <p:sp>
        <p:nvSpPr>
          <p:cNvPr id="37" name="Shape 37"/>
          <p:cNvSpPr/>
          <p:nvPr/>
        </p:nvSpPr>
        <p:spPr>
          <a:xfrm>
            <a:off x="6199632" y="4023359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6336792" y="412394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912864" y="4078223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Demo</a:t>
            </a:r>
          </a:p>
        </p:txBody>
      </p:sp>
      <p:sp>
        <p:nvSpPr>
          <p:cNvPr id="40" name="Shape 40"/>
          <p:cNvSpPr/>
          <p:nvPr/>
        </p:nvSpPr>
        <p:spPr>
          <a:xfrm>
            <a:off x="713232" y="4892040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850392" y="499262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426464" y="4946903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Conclusion and Future Work</a:t>
            </a:r>
          </a:p>
        </p:txBody>
      </p:sp>
      <p:sp>
        <p:nvSpPr>
          <p:cNvPr id="43" name="Shape 43"/>
          <p:cNvSpPr/>
          <p:nvPr/>
        </p:nvSpPr>
        <p:spPr>
          <a:xfrm>
            <a:off x="6199632" y="4892040"/>
            <a:ext cx="4709160" cy="5669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6336792" y="4992624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100" b="1">
                <a:solidFill>
                  <a:srgbClr val="38BDF8"/>
                </a:solidFill>
                <a:latin typeface="Aptos"/>
              </a:rPr>
              <a:t>10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912864" y="4946903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600" b="1">
                <a:solidFill>
                  <a:srgbClr val="EAF6FF"/>
                </a:solidFill>
                <a:latin typeface="Aptos"/>
              </a:rPr>
              <a:t>Tools and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frontend_next/src/lib/i18n.ts, backend/README.md, backend/docs/MENTAL_HEALTH_MODEL_DEPLOYMENT.md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What is Nabda?</a:t>
            </a:r>
          </a:p>
        </p:txBody>
      </p:sp>
      <p:sp>
        <p:nvSpPr>
          <p:cNvPr id="16" name="Shape 16"/>
          <p:cNvSpPr/>
          <p:nvPr/>
        </p:nvSpPr>
        <p:spPr>
          <a:xfrm>
            <a:off x="9601200" y="530352"/>
            <a:ext cx="1874519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601200" y="530352"/>
            <a:ext cx="1874519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Introduction</a:t>
            </a:r>
          </a:p>
        </p:txBody>
      </p:sp>
      <p:sp>
        <p:nvSpPr>
          <p:cNvPr id="18" name="Shape 18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A bilingual medical platform for symptom triage, report OCR, lab analysis, streaming chat, and doctor search through Google Maps.</a:t>
            </a:r>
          </a:p>
        </p:txBody>
      </p:sp>
      <p:sp>
        <p:nvSpPr>
          <p:cNvPr id="21" name="Shape 21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backend exposes FastAPI endpoints for symptoms, labs, report images, OCR-only extraction, diagnosis-only runs, and clarification.</a:t>
            </a:r>
          </a:p>
        </p:txBody>
      </p:sp>
      <p:sp>
        <p:nvSpPr>
          <p:cNvPr id="24" name="Shape 24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diagnosis engine combines deterministic clinical rules, a fine-tuned ClinicalBERT classifier, FAISS RAG retrieval, and optional LLM synthesis.</a:t>
            </a:r>
          </a:p>
        </p:txBody>
      </p:sp>
      <p:sp>
        <p:nvSpPr>
          <p:cNvPr id="27" name="Shape 27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Mental Support is a separate emotional-support chatbot with its own endpoint, model adapter, and safety guardrails.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Problem Definition and Motivation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backend/docs/PIPELINE_EVALUATION.md and frontend_next/src/components/medical/medical-chat.tsx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The Patient Interaction Gap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Users can arrive with free-text symptoms, structured lab values, or a medical report image; a single workflow must support all three input styles.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Natural symptom descriptions can be noisy, typo-heavy, or Arabic; the parser includes deterministic normalization and multilingual cue expansion.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Low-confidence first-pass diagnosis needs follow-up questions rather than a forced answer.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AI output must remain educational and route urgent symptoms to real clinical care.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backend/docs/RAG_SCOPE_AND_LIMITATIONS.md and backend/app/main.py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The Clinical Decision-Support Challenge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Diagnosis quality depends on combining parser output, lab rules, symptom rules, classifier predictions, RAG retrieval, and safety metadata.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active AI label universe is fixed at 49 DDXPlus-derived pathologies; unsupported diseases must not be presented as confident in-scope results.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Out-of-scope conditions can retrieve similar indexed cases, so RAG confidence gating is required before fusion.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system must degrade gracefully when optional RAG or classifier artifacts are unavailable at startup.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backend/models/diagnosis/diagnosisengine.py and backend/docs/MENTAL_HEALTH_MODEL_DEPLOYMENT.md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The Safety and Trust Gap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project is AI-assisted decision support, not clinical validation or a replacement for professional care.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Unsupported emergency signals such as stroke-like symptoms or pregnancy-related emergencies are explicitly detected and escalated.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Mental health support cannot provide formal diagnosis, medication prescriptions, or emergency care.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Every pipeline response carries safety metadata, disclaimer text, and clinician-review signals when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frontend_next/README.md and backend/docs/PIPELINE_EVALUATION.md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Motivation: Why We Built Nabda</a:t>
            </a:r>
          </a:p>
        </p:txBody>
      </p:sp>
      <p:sp>
        <p:nvSpPr>
          <p:cNvPr id="16" name="Shape 16"/>
          <p:cNvSpPr/>
          <p:nvPr/>
        </p:nvSpPr>
        <p:spPr>
          <a:xfrm>
            <a:off x="731520" y="1325880"/>
            <a:ext cx="489204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60120" y="16002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900" b="1">
                <a:solidFill>
                  <a:srgbClr val="38BDF8"/>
                </a:solidFill>
                <a:latin typeface="Aptos"/>
              </a:rPr>
              <a:t>For Users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51560" y="2240280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Start with symptoms, labs, or image uploads in one assistant.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51560" y="2898648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Continue uncertain cases with follow-up questions.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051560" y="3557015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Move from AI guidance to doctor search and directions.</a:t>
            </a:r>
          </a:p>
        </p:txBody>
      </p:sp>
      <p:sp>
        <p:nvSpPr>
          <p:cNvPr id="21" name="Shape 21"/>
          <p:cNvSpPr/>
          <p:nvPr/>
        </p:nvSpPr>
        <p:spPr>
          <a:xfrm>
            <a:off x="6172200" y="1325880"/>
            <a:ext cx="489204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400800" y="16002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900" b="1">
                <a:solidFill>
                  <a:srgbClr val="22C55E"/>
                </a:solidFill>
                <a:latin typeface="Aptos"/>
              </a:rPr>
              <a:t>For the System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492240" y="2240280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Normalize multilingual and noisy medical text before diagnosis.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92240" y="2898648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Fuse rules, classifier, and RAG instead of relying on one source.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492240" y="3557015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Expose safety, confidence, and source metadata in responses.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backend/app/routers/pipeline.py and frontend_next/src/components/medical/medical-chat.tsx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Motivation: Unifying Medical Workflows</a:t>
            </a:r>
          </a:p>
        </p:txBody>
      </p:sp>
      <p:sp>
        <p:nvSpPr>
          <p:cNvPr id="16" name="Shape 16"/>
          <p:cNvSpPr/>
          <p:nvPr/>
        </p:nvSpPr>
        <p:spPr>
          <a:xfrm>
            <a:off x="731520" y="1325880"/>
            <a:ext cx="489204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60120" y="16002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900" b="1">
                <a:solidFill>
                  <a:srgbClr val="38BDF8"/>
                </a:solidFill>
                <a:latin typeface="Aptos"/>
              </a:rPr>
              <a:t>Supported Inputs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51560" y="2240280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Free-text symptoms through advanced symptom parser.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51560" y="2898648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Structured lab JSON with optional symptom context.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051560" y="3557015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Report images processed through OCR and lab extraction.</a:t>
            </a:r>
          </a:p>
        </p:txBody>
      </p:sp>
      <p:sp>
        <p:nvSpPr>
          <p:cNvPr id="21" name="Shape 21"/>
          <p:cNvSpPr/>
          <p:nvPr/>
        </p:nvSpPr>
        <p:spPr>
          <a:xfrm>
            <a:off x="6172200" y="1325880"/>
            <a:ext cx="489204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400800" y="16002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900" b="1">
                <a:solidFill>
                  <a:srgbClr val="22C55E"/>
                </a:solidFill>
                <a:latin typeface="Aptos"/>
              </a:rPr>
              <a:t>Supported Outputs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492240" y="2240280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Final diagnosis, confidence, and supporting evidence.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92240" y="2898648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Safety notes and professional-care reminders.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492240" y="3557015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Clarification questions when the first pass is uncertain.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backend/app/routers and frontend_next/src/lib/api.ts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Workflow Coverage Implemented in Nabda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solidFill>
            <a:srgbClr val="123A6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13231" y="1417320"/>
            <a:ext cx="25740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3433572" y="1417320"/>
            <a:ext cx="25740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153912" y="1417320"/>
            <a:ext cx="25740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874252" y="1417320"/>
            <a:ext cx="25740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21" name="Shape 21"/>
          <p:cNvSpPr/>
          <p:nvPr/>
        </p:nvSpPr>
        <p:spPr>
          <a:xfrm>
            <a:off x="640080" y="1892807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713231" y="198424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Symptom triage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433572" y="198424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/pipeline/symptoms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153912" y="198424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Auto/symptom mode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874252" y="198424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Parser + validation + fusion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" y="2496312"/>
            <a:ext cx="10881360" cy="566928"/>
          </a:xfrm>
          <a:prstGeom prst="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13231" y="2587752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Lab analysis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3433572" y="2587752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/pipeline/labs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153912" y="2587752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Labs JSON panel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874252" y="2587752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Clinical rules + AI context</a:t>
            </a:r>
          </a:p>
        </p:txBody>
      </p:sp>
      <p:sp>
        <p:nvSpPr>
          <p:cNvPr id="31" name="Shape 31"/>
          <p:cNvSpPr/>
          <p:nvPr/>
        </p:nvSpPr>
        <p:spPr>
          <a:xfrm>
            <a:off x="640080" y="3099816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713231" y="3191256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Report OCR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3433572" y="3191256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/pipeline/image and /pipeline/ocr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153912" y="3191256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Report image upload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874252" y="3191256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PaddleOCR + regex parser</a:t>
            </a:r>
          </a:p>
        </p:txBody>
      </p:sp>
      <p:sp>
        <p:nvSpPr>
          <p:cNvPr id="36" name="Shape 36"/>
          <p:cNvSpPr/>
          <p:nvPr/>
        </p:nvSpPr>
        <p:spPr>
          <a:xfrm>
            <a:off x="640080" y="3703320"/>
            <a:ext cx="10881360" cy="566928"/>
          </a:xfrm>
          <a:prstGeom prst="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713231" y="3794759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Clarification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3433572" y="3794759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/pipeline/diagnosis/clarify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153912" y="3794759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Follow-up answer loop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874252" y="3794759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Re-run with merged answers</a:t>
            </a:r>
          </a:p>
        </p:txBody>
      </p:sp>
      <p:sp>
        <p:nvSpPr>
          <p:cNvPr id="41" name="Shape 41"/>
          <p:cNvSpPr/>
          <p:nvPr/>
        </p:nvSpPr>
        <p:spPr>
          <a:xfrm>
            <a:off x="640080" y="4306824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13231" y="4398264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Streaming chat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3433572" y="4398264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/chat/stream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153912" y="4398264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Assistant conversation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874252" y="4398264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Session memory</a:t>
            </a:r>
          </a:p>
        </p:txBody>
      </p:sp>
      <p:sp>
        <p:nvSpPr>
          <p:cNvPr id="46" name="Shape 46"/>
          <p:cNvSpPr/>
          <p:nvPr/>
        </p:nvSpPr>
        <p:spPr>
          <a:xfrm>
            <a:off x="640080" y="4910328"/>
            <a:ext cx="10881360" cy="566928"/>
          </a:xfrm>
          <a:prstGeom prst="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713231" y="500176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Mental support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3433572" y="500176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/mental-health/chat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6153912" y="500176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Mental Support page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8874252" y="500176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Guardrails + LoRA adapter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Main Objectives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README.md, frontend_next/README.md, backend/docs/PROJECT_ARTIFACTS_STRUCTURE.md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Main Objectives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Build an end-to-end medical assistant that accepts symptoms, labs, and report images through a single user-facing workflow.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Use deterministic symptom parsing, normalization, and validation to prepare robust clinical input for the diagnosis pipeline.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Integrate ClinicalBERT classification and FAISS RAG retrieval with rule-based safety checks and calibrated fusion.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Provide bilingual UI copy, Arabic-aware parsing/translation options, and same-language safety fallbacks.</a:t>
            </a:r>
          </a:p>
        </p:txBody>
      </p:sp>
      <p:sp>
        <p:nvSpPr>
          <p:cNvPr id="28" name="Shape 28"/>
          <p:cNvSpPr/>
          <p:nvPr/>
        </p:nvSpPr>
        <p:spPr>
          <a:xfrm>
            <a:off x="685800" y="4700016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704088" y="4727448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5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188720" y="4636008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Separate emotional-support chat from medical diagnosis, with explicit crisis and medication guardrails.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README.md, backend/app/main.py, frontend_next/README.md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16" name="Shape 16"/>
          <p:cNvSpPr/>
          <p:nvPr/>
        </p:nvSpPr>
        <p:spPr>
          <a:xfrm>
            <a:off x="804672" y="1170432"/>
            <a:ext cx="10561320" cy="7315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05840" y="1335024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400" b="1">
                <a:solidFill>
                  <a:srgbClr val="38BDF8"/>
                </a:solidFill>
                <a:latin typeface="Aptos"/>
              </a:rPr>
              <a:t>Presentation Layer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3429000" y="1243584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Next.js 16.2.9 | Bilingual UI | Assistant, doctors, services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5989320" y="1920240"/>
            <a:ext cx="9144" cy="182879"/>
          </a:xfrm>
          <a:prstGeom prst="line">
            <a:avLst/>
          </a:prstGeom>
          <a:ln w="18000">
            <a:solidFill>
              <a:srgbClr val="38BDF8"/>
            </a:solidFill>
          </a:ln>
        </p:spPr>
      </p:cxnSp>
      <p:sp>
        <p:nvSpPr>
          <p:cNvPr id="20" name="Shape 20"/>
          <p:cNvSpPr/>
          <p:nvPr/>
        </p:nvSpPr>
        <p:spPr>
          <a:xfrm>
            <a:off x="804672" y="2103120"/>
            <a:ext cx="10561320" cy="731520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1005840" y="2267712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400" b="1">
                <a:solidFill>
                  <a:srgbClr val="22C55E"/>
                </a:solidFill>
                <a:latin typeface="Aptos"/>
              </a:rPr>
              <a:t>API Layer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3429000" y="2176272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FastAPI | Auth and chat history | Pipeline, chat, mental support routers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5989320" y="2852927"/>
            <a:ext cx="9144" cy="182880"/>
          </a:xfrm>
          <a:prstGeom prst="line">
            <a:avLst/>
          </a:prstGeom>
          <a:ln w="18000">
            <a:solidFill>
              <a:srgbClr val="22C55E"/>
            </a:solidFill>
          </a:ln>
        </p:spPr>
      </p:cxnSp>
      <p:sp>
        <p:nvSpPr>
          <p:cNvPr id="24" name="Shape 24"/>
          <p:cNvSpPr/>
          <p:nvPr/>
        </p:nvSpPr>
        <p:spPr>
          <a:xfrm>
            <a:off x="804672" y="3035808"/>
            <a:ext cx="10561320" cy="7315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005840" y="3200400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400" b="1">
                <a:solidFill>
                  <a:srgbClr val="FBBF24"/>
                </a:solidFill>
                <a:latin typeface="Aptos"/>
              </a:rPr>
              <a:t>Orchestration Layer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3429000" y="3108960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ChatManager | Session store | Timeout and degraded startup guardrails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5989320" y="3785615"/>
            <a:ext cx="9144" cy="182880"/>
          </a:xfrm>
          <a:prstGeom prst="line">
            <a:avLst/>
          </a:prstGeom>
          <a:ln w="18000">
            <a:solidFill>
              <a:srgbClr val="FBBF24"/>
            </a:solidFill>
          </a:ln>
        </p:spPr>
      </p:cxnSp>
      <p:sp>
        <p:nvSpPr>
          <p:cNvPr id="28" name="Shape 28"/>
          <p:cNvSpPr/>
          <p:nvPr/>
        </p:nvSpPr>
        <p:spPr>
          <a:xfrm>
            <a:off x="804672" y="3968496"/>
            <a:ext cx="10561320" cy="731520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1005840" y="4133087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400" b="1">
                <a:solidFill>
                  <a:srgbClr val="38BDF8"/>
                </a:solidFill>
                <a:latin typeface="Aptos"/>
              </a:rPr>
              <a:t>AI and Rules Layer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3429000" y="4041648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Symptom parser | Clinical rules | ClinicalBERT classifier | FAISS RAG | LLM synthesis</a:t>
            </a:r>
          </a:p>
        </p:txBody>
      </p:sp>
      <p:cxnSp>
        <p:nvCxnSpPr>
          <p:cNvPr id="31" name="Connector 31"/>
          <p:cNvCxnSpPr/>
          <p:nvPr/>
        </p:nvCxnSpPr>
        <p:spPr>
          <a:xfrm>
            <a:off x="5989320" y="4718304"/>
            <a:ext cx="9144" cy="182879"/>
          </a:xfrm>
          <a:prstGeom prst="line">
            <a:avLst/>
          </a:prstGeom>
          <a:ln w="18000">
            <a:solidFill>
              <a:srgbClr val="38BDF8"/>
            </a:solidFill>
          </a:ln>
        </p:spPr>
      </p:cxnSp>
      <p:sp>
        <p:nvSpPr>
          <p:cNvPr id="32" name="Shape 32"/>
          <p:cNvSpPr/>
          <p:nvPr/>
        </p:nvSpPr>
        <p:spPr>
          <a:xfrm>
            <a:off x="804672" y="4901183"/>
            <a:ext cx="10561320" cy="7315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1005840" y="5065775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400" b="1">
                <a:solidFill>
                  <a:srgbClr val="22C55E"/>
                </a:solidFill>
                <a:latin typeface="Aptos"/>
              </a:rPr>
              <a:t>Data and Artifacts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3429000" y="4974336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SQLite chat DB | 12,025 FAISS vectors | 49-label classifier | OCR patterns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Phase Description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ptos"/>
              </a:rPr>
              <a:t>Phase Description</a:t>
            </a:r>
          </a:p>
        </p:txBody>
      </p:sp>
      <p:sp>
        <p:nvSpPr>
          <p:cNvPr id="16" name="Shape 16"/>
          <p:cNvSpPr/>
          <p:nvPr/>
        </p:nvSpPr>
        <p:spPr>
          <a:xfrm>
            <a:off x="777240" y="1508760"/>
            <a:ext cx="3154680" cy="123444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05840" y="1828800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700" b="1">
                <a:solidFill>
                  <a:srgbClr val="EAF6FF"/>
                </a:solidFill>
                <a:latin typeface="Aptos"/>
              </a:rPr>
              <a:t>1- Symptom NLP Parsing</a:t>
            </a:r>
          </a:p>
        </p:txBody>
      </p:sp>
      <p:sp>
        <p:nvSpPr>
          <p:cNvPr id="18" name="Shape 18"/>
          <p:cNvSpPr/>
          <p:nvPr/>
        </p:nvSpPr>
        <p:spPr>
          <a:xfrm>
            <a:off x="4434840" y="1508760"/>
            <a:ext cx="3154680" cy="123444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663440" y="1828800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700" b="1">
                <a:solidFill>
                  <a:srgbClr val="EAF6FF"/>
                </a:solidFill>
                <a:latin typeface="Aptos"/>
              </a:rPr>
              <a:t>2- OCR and Lab Extraction</a:t>
            </a:r>
          </a:p>
        </p:txBody>
      </p:sp>
      <p:sp>
        <p:nvSpPr>
          <p:cNvPr id="20" name="Shape 20"/>
          <p:cNvSpPr/>
          <p:nvPr/>
        </p:nvSpPr>
        <p:spPr>
          <a:xfrm>
            <a:off x="8092440" y="1508760"/>
            <a:ext cx="3154680" cy="123444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321040" y="1828800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700" b="1">
                <a:solidFill>
                  <a:srgbClr val="EAF6FF"/>
                </a:solidFill>
                <a:latin typeface="Aptos"/>
              </a:rPr>
              <a:t>3- Diagnosis Fusion</a:t>
            </a:r>
          </a:p>
        </p:txBody>
      </p:sp>
      <p:sp>
        <p:nvSpPr>
          <p:cNvPr id="22" name="Shape 22"/>
          <p:cNvSpPr/>
          <p:nvPr/>
        </p:nvSpPr>
        <p:spPr>
          <a:xfrm>
            <a:off x="777240" y="3429000"/>
            <a:ext cx="3154680" cy="123444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1005840" y="3749039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700" b="1">
                <a:solidFill>
                  <a:srgbClr val="EAF6FF"/>
                </a:solidFill>
                <a:latin typeface="Aptos"/>
              </a:rPr>
              <a:t>4- RAG and Classifier Evidence</a:t>
            </a:r>
          </a:p>
        </p:txBody>
      </p:sp>
      <p:sp>
        <p:nvSpPr>
          <p:cNvPr id="24" name="Shape 24"/>
          <p:cNvSpPr/>
          <p:nvPr/>
        </p:nvSpPr>
        <p:spPr>
          <a:xfrm>
            <a:off x="4434840" y="3429000"/>
            <a:ext cx="3154680" cy="123444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4663440" y="3749039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700" b="1">
                <a:solidFill>
                  <a:srgbClr val="EAF6FF"/>
                </a:solidFill>
                <a:latin typeface="Aptos"/>
              </a:rPr>
              <a:t>5- Safety, Clarification, and Support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backend/manager/symptom_parser.py, symptom_validator.py, symptom_normalizer.py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1- Symptom NLP Parsing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parse_symptoms extracts labs, symptoms, and context from raw natural language.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parser normalizes noisy and multilingual text before validation.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validate_parsed canonicalizes lab names, units, and symptom names while marking low-confidence review cases.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build_normalized_symptom_text creates a normalized text payload for downstream classifier and RAG evidence.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backend/models/ocr/README.md and backend/app/routers/pipeline.py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2- OCR and Lab Extraction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OCREngine uses PaddleOCR with optional angle classification and OpenCV preprocessing.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Lab extraction supports multi-match parsing, duplicate warnings, full-text, line-by-line, and cross-line fallback passes.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Supported lab keys include glucose, hemoglobin, iron, WBC, RBC, platelets, hematocrit, cholesterol, creatinine, urea, sodium, potassium, and calcium.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Image endpoints restrict uploads to common report image types and enforce a configured maximum upload size.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backend/models/diagnosis/diagnosisengine.py and backend/models/diagnosis/text.py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3- Diagnosis Fusion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DiagnosisEngine builds a combined clinical text representation from report fields, labs, symptoms, sections, and follow-up answers.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Clinical rules detect lab and symptom findings before AI fusion.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Classifier and RAG outputs are collected as candidates, then calibrated with rule alignment, confidence margins, and scope signals.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final response includes diagnosis, confidence, source, supporting evidence, decision_fusion metadata, safety metadata, and summary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backend/docs/CLASSIFIER_EVALUATION.md and backend/docs/RAG_SCOPE_AND_LIMITATIONS.md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4- RAG and Classifier Evidence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active classifier bundle is clinicalbert_classifier_targeted with 49 labels and saved test predictions.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active FAISS bundle is faiss_data_targeted with 12,025 vectors and 768-dimensional embeddings.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RAG reranking combines embedding similarity with symptom overlap, lexical overlap, feature alignment, lab match, age/sex alignment, disease-family hints, and penalties.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Confidence gating prevents low-confidence or out-of-scope RAG from overpowering rules and classifier evidence.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backend/docs/PIPELINE_EVALUATION.md and manager/chat_manager.py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ptos"/>
              </a:rPr>
              <a:t>Diagnosis Pipeline Flow</a:t>
            </a:r>
          </a:p>
        </p:txBody>
      </p:sp>
      <p:sp>
        <p:nvSpPr>
          <p:cNvPr id="16" name="Shape 16"/>
          <p:cNvSpPr/>
          <p:nvPr/>
        </p:nvSpPr>
        <p:spPr>
          <a:xfrm>
            <a:off x="502920" y="1828800"/>
            <a:ext cx="1572768" cy="10241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94360" y="199339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94360" y="23042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0">
                <a:solidFill>
                  <a:srgbClr val="A9C2DA"/>
                </a:solidFill>
                <a:latin typeface="Aptos"/>
              </a:rPr>
              <a:t>Symptoms, labs, or report image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2112264" y="2331720"/>
            <a:ext cx="237744" cy="9144"/>
          </a:xfrm>
          <a:prstGeom prst="line">
            <a:avLst/>
          </a:prstGeom>
          <a:ln w="18000">
            <a:solidFill>
              <a:srgbClr val="38BDF8"/>
            </a:solidFill>
          </a:ln>
        </p:spPr>
      </p:cxnSp>
      <p:sp>
        <p:nvSpPr>
          <p:cNvPr id="20" name="Shape 20"/>
          <p:cNvSpPr/>
          <p:nvPr/>
        </p:nvSpPr>
        <p:spPr>
          <a:xfrm>
            <a:off x="2404872" y="1828800"/>
            <a:ext cx="1572768" cy="10241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2496312" y="199339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Parser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2496312" y="23042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0">
                <a:solidFill>
                  <a:srgbClr val="A9C2DA"/>
                </a:solidFill>
                <a:latin typeface="Aptos"/>
              </a:rPr>
              <a:t>Extract symptoms, labs, age, sex, context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4014215" y="2331720"/>
            <a:ext cx="237744" cy="9144"/>
          </a:xfrm>
          <a:prstGeom prst="line">
            <a:avLst/>
          </a:prstGeom>
          <a:ln w="18000">
            <a:solidFill>
              <a:srgbClr val="38BDF8"/>
            </a:solidFill>
          </a:ln>
        </p:spPr>
      </p:cxnSp>
      <p:sp>
        <p:nvSpPr>
          <p:cNvPr id="24" name="Shape 24"/>
          <p:cNvSpPr/>
          <p:nvPr/>
        </p:nvSpPr>
        <p:spPr>
          <a:xfrm>
            <a:off x="4306824" y="1828800"/>
            <a:ext cx="1572768" cy="10241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4398264" y="199339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Normalizer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398264" y="23042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0">
                <a:solidFill>
                  <a:srgbClr val="A9C2DA"/>
                </a:solidFill>
                <a:latin typeface="Aptos"/>
              </a:rPr>
              <a:t>Aliases, typo fixes, Arabic cue expansion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5916168" y="2331720"/>
            <a:ext cx="237744" cy="9144"/>
          </a:xfrm>
          <a:prstGeom prst="line">
            <a:avLst/>
          </a:prstGeom>
          <a:ln w="18000">
            <a:solidFill>
              <a:srgbClr val="38BDF8"/>
            </a:solidFill>
          </a:ln>
        </p:spPr>
      </p:cxnSp>
      <p:sp>
        <p:nvSpPr>
          <p:cNvPr id="28" name="Shape 28"/>
          <p:cNvSpPr/>
          <p:nvPr/>
        </p:nvSpPr>
        <p:spPr>
          <a:xfrm>
            <a:off x="6208776" y="1828800"/>
            <a:ext cx="1572768" cy="10241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6300216" y="199339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6300216" y="23042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0">
                <a:solidFill>
                  <a:srgbClr val="A9C2DA"/>
                </a:solidFill>
                <a:latin typeface="Aptos"/>
              </a:rPr>
              <a:t>Rules + classifier + RAG retrieval</a:t>
            </a:r>
          </a:p>
        </p:txBody>
      </p:sp>
      <p:cxnSp>
        <p:nvCxnSpPr>
          <p:cNvPr id="31" name="Connector 31"/>
          <p:cNvCxnSpPr/>
          <p:nvPr/>
        </p:nvCxnSpPr>
        <p:spPr>
          <a:xfrm>
            <a:off x="7818120" y="2331720"/>
            <a:ext cx="237743" cy="9144"/>
          </a:xfrm>
          <a:prstGeom prst="line">
            <a:avLst/>
          </a:prstGeom>
          <a:ln w="18000">
            <a:solidFill>
              <a:srgbClr val="38BDF8"/>
            </a:solidFill>
          </a:ln>
        </p:spPr>
      </p:cxnSp>
      <p:sp>
        <p:nvSpPr>
          <p:cNvPr id="32" name="Shape 32"/>
          <p:cNvSpPr/>
          <p:nvPr/>
        </p:nvSpPr>
        <p:spPr>
          <a:xfrm>
            <a:off x="8110728" y="1828800"/>
            <a:ext cx="1572768" cy="10241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202168" y="199339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Fusion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8202168" y="23042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0">
                <a:solidFill>
                  <a:srgbClr val="A9C2DA"/>
                </a:solidFill>
                <a:latin typeface="Aptos"/>
              </a:rPr>
              <a:t>Confidence calibration and source agreement</a:t>
            </a:r>
          </a:p>
        </p:txBody>
      </p:sp>
      <p:cxnSp>
        <p:nvCxnSpPr>
          <p:cNvPr id="35" name="Connector 35"/>
          <p:cNvCxnSpPr/>
          <p:nvPr/>
        </p:nvCxnSpPr>
        <p:spPr>
          <a:xfrm>
            <a:off x="9720072" y="2331720"/>
            <a:ext cx="237743" cy="9144"/>
          </a:xfrm>
          <a:prstGeom prst="line">
            <a:avLst/>
          </a:prstGeom>
          <a:ln w="18000">
            <a:solidFill>
              <a:srgbClr val="38BDF8"/>
            </a:solidFill>
          </a:ln>
        </p:spPr>
      </p:cxnSp>
      <p:sp>
        <p:nvSpPr>
          <p:cNvPr id="36" name="Shape 36"/>
          <p:cNvSpPr/>
          <p:nvPr/>
        </p:nvSpPr>
        <p:spPr>
          <a:xfrm>
            <a:off x="10012680" y="1828800"/>
            <a:ext cx="1572768" cy="102412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10104120" y="199339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10104120" y="23042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0">
                <a:solidFill>
                  <a:srgbClr val="A9C2DA"/>
                </a:solidFill>
                <a:latin typeface="Aptos"/>
              </a:rPr>
              <a:t>Diagnosis, safety, clarification, summary</a:t>
            </a:r>
          </a:p>
        </p:txBody>
      </p:sp>
      <p:sp>
        <p:nvSpPr>
          <p:cNvPr id="39" name="Shape 39"/>
          <p:cNvSpPr/>
          <p:nvPr/>
        </p:nvSpPr>
        <p:spPr>
          <a:xfrm>
            <a:off x="1097280" y="3794760"/>
            <a:ext cx="9875520" cy="731520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1097280" y="379476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800" b="0">
                <a:solidFill>
                  <a:srgbClr val="EAF6FF"/>
                </a:solidFill>
                <a:latin typeface="Aptos"/>
              </a:rPr>
              <a:t>Evaluation path: user text -&gt; parser -&gt; validator -&gt; normalizer -&gt; rules -&gt; classifier -&gt; RAG -&gt; fusion -&gt; final diagnosis -&gt; safety metadata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backend/docs/MENTAL_HEALTH_MODEL_DEPLOYMENT.md and backend/app/routers/mental_health.py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5- Mental Support and Safety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Mental Support uses the llama-3.2-3b-qlora-mental-support adapter and is explicitly separate from diagnosis, RAG, classifier, rules, and therapy generation.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endpoint returns reply, safety_status, detected_language, model, disclaimer, model_loaded, and latency_ms.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Guardrails run before generation and handle crisis, self-harm, overdose, harm-to-others, medication dosage, formal diagnosis, and dangerous-instruction requests.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Full Llama generation is pending GPU validation; fallback and guardrail behavior can run without model loading.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backend/models/diagnosis/diagnosisengine.py and backend/docs/MENTAL_HEALTH_MODEL_DEPLOYMENT.md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ptos"/>
              </a:rPr>
              <a:t>Safety and Scope Architecture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14400" y="173736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800" b="1">
                <a:solidFill>
                  <a:srgbClr val="38BDF8"/>
                </a:solidFill>
                <a:latin typeface="Aptos"/>
              </a:rPr>
              <a:t>Diagnosis Safety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60120" y="23774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Unsupported emergency scope signals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60120" y="30175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Low-confidence and out-of-scope gating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60120" y="36576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Rule validation status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960120" y="429768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Clinician review metadata</a:t>
            </a:r>
          </a:p>
        </p:txBody>
      </p:sp>
      <p:sp>
        <p:nvSpPr>
          <p:cNvPr id="22" name="Shape 22"/>
          <p:cNvSpPr/>
          <p:nvPr/>
        </p:nvSpPr>
        <p:spPr>
          <a:xfrm>
            <a:off x="4480560" y="1417320"/>
            <a:ext cx="3337560" cy="42519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4709160" y="173736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800" b="1">
                <a:solidFill>
                  <a:srgbClr val="FBBF24"/>
                </a:solidFill>
                <a:latin typeface="Aptos"/>
              </a:rPr>
              <a:t>Clarification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754880" y="23774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Up to 3 follow-up questions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754880" y="30175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Candidate disease comparison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754880" y="36576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Re-run diagnosis with answers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754880" y="429768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Follow-up scoring override controls</a:t>
            </a:r>
          </a:p>
        </p:txBody>
      </p:sp>
      <p:sp>
        <p:nvSpPr>
          <p:cNvPr id="28" name="Shape 28"/>
          <p:cNvSpPr/>
          <p:nvPr/>
        </p:nvSpPr>
        <p:spPr>
          <a:xfrm>
            <a:off x="8275320" y="1417320"/>
            <a:ext cx="3337560" cy="42519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503920" y="173736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800" b="1">
                <a:solidFill>
                  <a:srgbClr val="22C55E"/>
                </a:solidFill>
                <a:latin typeface="Aptos"/>
              </a:rPr>
              <a:t>Mental Support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549640" y="23774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Separate /mental-health/chat endpoint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549640" y="30175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Crisis and self-harm guardrails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549640" y="36576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Medication and diagnosis refusals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549640" y="429768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200" b="0">
                <a:solidFill>
                  <a:srgbClr val="EAF6FF"/>
                </a:solidFill>
                <a:latin typeface="Aptos"/>
              </a:rPr>
              <a:t>- Model unavailable fallback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Training and Evaluation Artifacts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backend/docs/PROJECT_ARTIFACTS_STRUCTURE.md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Training and Evaluation Artifacts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solidFill>
            <a:srgbClr val="123A6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13231" y="1417320"/>
            <a:ext cx="25740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Artifact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3433572" y="1417320"/>
            <a:ext cx="25740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Active Path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153912" y="1417320"/>
            <a:ext cx="25740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Key Contents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874252" y="1417320"/>
            <a:ext cx="25740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21" name="Shape 21"/>
          <p:cNvSpPr/>
          <p:nvPr/>
        </p:nvSpPr>
        <p:spPr>
          <a:xfrm>
            <a:off x="640080" y="1892807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713231" y="198424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Classifier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433572" y="198424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clinicalbert_classifier_targeted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153912" y="198424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49 labels, tokenizer, weights, test_predictions.csv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874252" y="1984248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Active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" y="2496312"/>
            <a:ext cx="10881360" cy="566928"/>
          </a:xfrm>
          <a:prstGeom prst="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13231" y="2587752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RAG / FAISS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3433572" y="2587752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faiss_data_targeted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153912" y="2587752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medical_cases.index, metadata, index_info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874252" y="2587752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Active</a:t>
            </a:r>
          </a:p>
        </p:txBody>
      </p:sp>
      <p:sp>
        <p:nvSpPr>
          <p:cNvPr id="31" name="Shape 31"/>
          <p:cNvSpPr/>
          <p:nvPr/>
        </p:nvSpPr>
        <p:spPr>
          <a:xfrm>
            <a:off x="640080" y="3099816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713231" y="3191256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Mental Support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3433572" y="3191256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mental_health/complaint_model_final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153912" y="3191256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LoRA adapter, tokenizer, chat template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874252" y="3191256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Optional</a:t>
            </a:r>
          </a:p>
        </p:txBody>
      </p:sp>
      <p:sp>
        <p:nvSpPr>
          <p:cNvPr id="36" name="Shape 36"/>
          <p:cNvSpPr/>
          <p:nvPr/>
        </p:nvSpPr>
        <p:spPr>
          <a:xfrm>
            <a:off x="640080" y="3703320"/>
            <a:ext cx="10881360" cy="566928"/>
          </a:xfrm>
          <a:prstGeom prst="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713231" y="3794759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Pipeline cases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3433572" y="3794759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data/evaluation/pipeline_diagnostics/cases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153912" y="3794759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In-scope, Arabic, noisy, ambiguous, safety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8874252" y="3794759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Evaluation</a:t>
            </a:r>
          </a:p>
        </p:txBody>
      </p:sp>
      <p:sp>
        <p:nvSpPr>
          <p:cNvPr id="41" name="Shape 41"/>
          <p:cNvSpPr/>
          <p:nvPr/>
        </p:nvSpPr>
        <p:spPr>
          <a:xfrm>
            <a:off x="640080" y="4306824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13231" y="4398264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OCR rules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3433572" y="4398264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backend/models/ocr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153912" y="4398264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Patterns, fields, synonyms, parsing utilities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874252" y="4398264"/>
            <a:ext cx="25740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Runtime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Experimental Results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backend/docs/CLASSIFIER_EVALUATION.md and backend/artifacts/clinicalbert_classifier_targeted/summary.json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ClinicalBERT Classifier Results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41247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49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41247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Label universe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8696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Consistent across classifier, RAG, FAISS metadata, and maps</a:t>
            </a:r>
          </a:p>
        </p:txBody>
      </p:sp>
      <p:sp>
        <p:nvSpPr>
          <p:cNvPr id="20" name="Shape 20"/>
          <p:cNvSpPr/>
          <p:nvPr/>
        </p:nvSpPr>
        <p:spPr>
          <a:xfrm>
            <a:off x="436168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454456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2,006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54456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Saved test rows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59028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Metrics recomputed from saved test predictions</a:t>
            </a:r>
          </a:p>
        </p:txBody>
      </p:sp>
      <p:sp>
        <p:nvSpPr>
          <p:cNvPr id="24" name="Shape 24"/>
          <p:cNvSpPr/>
          <p:nvPr/>
        </p:nvSpPr>
        <p:spPr>
          <a:xfrm>
            <a:off x="806500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24788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0.9915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4788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Saved-test accuracy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9360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summary.json and classifier evaluation docs</a:t>
            </a:r>
          </a:p>
        </p:txBody>
      </p:sp>
      <p:sp>
        <p:nvSpPr>
          <p:cNvPr id="28" name="Shape 28"/>
          <p:cNvSpPr/>
          <p:nvPr/>
        </p:nvSpPr>
        <p:spPr>
          <a:xfrm>
            <a:off x="65836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41247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0.9882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41247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Saved-test macro F1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8696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Targeted classifier bundle</a:t>
            </a:r>
          </a:p>
        </p:txBody>
      </p:sp>
      <p:sp>
        <p:nvSpPr>
          <p:cNvPr id="32" name="Shape 32"/>
          <p:cNvSpPr/>
          <p:nvPr/>
        </p:nvSpPr>
        <p:spPr>
          <a:xfrm>
            <a:off x="436168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454456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0.9796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54456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Smoke top-1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59028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Top-3 and Top-5 both 1.0000</a:t>
            </a:r>
          </a:p>
        </p:txBody>
      </p:sp>
      <p:sp>
        <p:nvSpPr>
          <p:cNvPr id="36" name="Shape 36"/>
          <p:cNvSpPr/>
          <p:nvPr/>
        </p:nvSpPr>
        <p:spPr>
          <a:xfrm>
            <a:off x="806500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24788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0.0358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24788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Smoke ECE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29360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Expected calibration error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backend/docs/RAG_SCOPE_AND_LIMITATIONS.md and backend/artifacts/faiss_data_targeted/index_info.json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RAG Retrieval Results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41247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12,025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41247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FAISS vectors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8696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Active targeted index</a:t>
            </a:r>
          </a:p>
        </p:txBody>
      </p:sp>
      <p:sp>
        <p:nvSpPr>
          <p:cNvPr id="20" name="Shape 20"/>
          <p:cNvSpPr/>
          <p:nvPr/>
        </p:nvSpPr>
        <p:spPr>
          <a:xfrm>
            <a:off x="436168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454456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768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54456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Embedding dimension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59028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FAISS index_info.json</a:t>
            </a:r>
          </a:p>
        </p:txBody>
      </p:sp>
      <p:sp>
        <p:nvSpPr>
          <p:cNvPr id="24" name="Shape 24"/>
          <p:cNvSpPr/>
          <p:nvPr/>
        </p:nvSpPr>
        <p:spPr>
          <a:xfrm>
            <a:off x="806500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24788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49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4788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Unique pathologies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9360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DDXPlus-derived scope</a:t>
            </a:r>
          </a:p>
        </p:txBody>
      </p:sp>
      <p:sp>
        <p:nvSpPr>
          <p:cNvPr id="28" name="Shape 28"/>
          <p:cNvSpPr/>
          <p:nvPr/>
        </p:nvSpPr>
        <p:spPr>
          <a:xfrm>
            <a:off x="65836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41247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0.8636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41247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Expanded Top-1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8696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44 in-scope cases</a:t>
            </a:r>
          </a:p>
        </p:txBody>
      </p:sp>
      <p:sp>
        <p:nvSpPr>
          <p:cNvPr id="32" name="Shape 32"/>
          <p:cNvSpPr/>
          <p:nvPr/>
        </p:nvSpPr>
        <p:spPr>
          <a:xfrm>
            <a:off x="436168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454456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0.8864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54456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Expanded Top-5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59028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Above default 0.85 threshold</a:t>
            </a:r>
          </a:p>
        </p:txBody>
      </p:sp>
      <p:sp>
        <p:nvSpPr>
          <p:cNvPr id="36" name="Shape 36"/>
          <p:cNvSpPr/>
          <p:nvPr/>
        </p:nvSpPr>
        <p:spPr>
          <a:xfrm>
            <a:off x="806500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24788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1.0000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24788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OOS low confidence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29360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Out-of-scope safety cases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backend/docs/PIPELINE_EVALUATION.md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End-to-End Pipeline Evaluation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41247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0.8125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41247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In-scope Top-1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8696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Latest safety/parser fix run</a:t>
            </a:r>
          </a:p>
        </p:txBody>
      </p:sp>
      <p:sp>
        <p:nvSpPr>
          <p:cNvPr id="20" name="Shape 20"/>
          <p:cNvSpPr/>
          <p:nvPr/>
        </p:nvSpPr>
        <p:spPr>
          <a:xfrm>
            <a:off x="436168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454456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1.0000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54456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In-scope Top-3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59028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Latest pipeline evaluation</a:t>
            </a:r>
          </a:p>
        </p:txBody>
      </p:sp>
      <p:sp>
        <p:nvSpPr>
          <p:cNvPr id="24" name="Shape 24"/>
          <p:cNvSpPr/>
          <p:nvPr/>
        </p:nvSpPr>
        <p:spPr>
          <a:xfrm>
            <a:off x="806500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24788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1.0000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4788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Expected label/family hit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9360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Final diagnosis family coverage</a:t>
            </a:r>
          </a:p>
        </p:txBody>
      </p:sp>
      <p:sp>
        <p:nvSpPr>
          <p:cNvPr id="28" name="Shape 28"/>
          <p:cNvSpPr/>
          <p:nvPr/>
        </p:nvSpPr>
        <p:spPr>
          <a:xfrm>
            <a:off x="65836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41247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0.8974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41247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Parser success overall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8696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All pipeline case sets</a:t>
            </a:r>
          </a:p>
        </p:txBody>
      </p:sp>
      <p:sp>
        <p:nvSpPr>
          <p:cNvPr id="32" name="Shape 32"/>
          <p:cNvSpPr/>
          <p:nvPr/>
        </p:nvSpPr>
        <p:spPr>
          <a:xfrm>
            <a:off x="436168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454456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0.8750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54456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Natural/Arabic/noisy parser success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59028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Combined parser stress cases</a:t>
            </a:r>
          </a:p>
        </p:txBody>
      </p:sp>
      <p:sp>
        <p:nvSpPr>
          <p:cNvPr id="36" name="Shape 36"/>
          <p:cNvSpPr/>
          <p:nvPr/>
        </p:nvSpPr>
        <p:spPr>
          <a:xfrm>
            <a:off x="806500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24788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24788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Failed cases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29360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Latest run reported no failed cases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backend/docs/PIPELINE_EVALUATION.md, backend/app/config.py, frontend_next/src/lib/api.ts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Safety and Scope Results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41247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1.0000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41247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Out-of-scope safe handling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8696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Pipeline safety/parser fix run</a:t>
            </a:r>
          </a:p>
        </p:txBody>
      </p:sp>
      <p:sp>
        <p:nvSpPr>
          <p:cNvPr id="20" name="Shape 20"/>
          <p:cNvSpPr/>
          <p:nvPr/>
        </p:nvSpPr>
        <p:spPr>
          <a:xfrm>
            <a:off x="436168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454456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0.0000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54456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Unsafe confident diagnosis rate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59028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Latest pipeline evaluation</a:t>
            </a:r>
          </a:p>
        </p:txBody>
      </p:sp>
      <p:sp>
        <p:nvSpPr>
          <p:cNvPr id="24" name="Shape 24"/>
          <p:cNvSpPr/>
          <p:nvPr/>
        </p:nvSpPr>
        <p:spPr>
          <a:xfrm>
            <a:off x="8065008" y="1417320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247888" y="1645920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120 s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47888" y="21671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Backend pipeline timeout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93608" y="24963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PIPELINE_TIMEOUT_SECONDS default</a:t>
            </a:r>
          </a:p>
        </p:txBody>
      </p:sp>
      <p:sp>
        <p:nvSpPr>
          <p:cNvPr id="28" name="Shape 28"/>
          <p:cNvSpPr/>
          <p:nvPr/>
        </p:nvSpPr>
        <p:spPr>
          <a:xfrm>
            <a:off x="65836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41247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150 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41247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Frontend request timeout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8696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REQUEST_TIMEOUT_MS</a:t>
            </a:r>
          </a:p>
        </p:txBody>
      </p:sp>
      <p:sp>
        <p:nvSpPr>
          <p:cNvPr id="32" name="Shape 32"/>
          <p:cNvSpPr/>
          <p:nvPr/>
        </p:nvSpPr>
        <p:spPr>
          <a:xfrm>
            <a:off x="436168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454456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10 MB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54456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Default max upload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59028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MAX_UPLOAD_BYTES</a:t>
            </a:r>
          </a:p>
        </p:txBody>
      </p:sp>
      <p:sp>
        <p:nvSpPr>
          <p:cNvPr id="36" name="Shape 36"/>
          <p:cNvSpPr/>
          <p:nvPr/>
        </p:nvSpPr>
        <p:spPr>
          <a:xfrm>
            <a:off x="8065008" y="3520439"/>
            <a:ext cx="3246120" cy="164592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247888" y="3749039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247888" y="427024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38BDF8"/>
                </a:solidFill>
                <a:latin typeface="Aptos"/>
              </a:rPr>
              <a:t>Max clarification questions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293608" y="4599431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0">
                <a:solidFill>
                  <a:srgbClr val="A9C2DA"/>
                </a:solidFill>
                <a:latin typeface="Aptos"/>
              </a:rPr>
              <a:t>DiagnosisEngine limit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backend/models/ocr/README.md, backend/app/main.py, backend/app/routers/pipeline.py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OCR and Runtime Reliability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OCR parsing stores exact source_match text for each extracted lab value, improving auditability of report extraction.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PaddleOCR API compatibility is handled by retrying without cls when a version rejects the cls argument.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Startup disables RAG or classifier automatically when required artifacts are missing, then continues in degraded mode.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Pipeline endpoints return JSON 504 responses on timeout rather than leaving the frontend with a dropped upstream socket.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Demo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frontend_next/src/components/medical/medical-chat.tsx and frontend_next/src/lib/api.ts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ptos"/>
              </a:rPr>
              <a:t>Demo Flow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325880"/>
            <a:ext cx="10607040" cy="621792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68680" y="147218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1">
                <a:solidFill>
                  <a:srgbClr val="38BDF8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417320" y="1435607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ptos"/>
              </a:rPr>
              <a:t>Symptom analysis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3520440" y="1435607"/>
            <a:ext cx="7269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A9C2DA"/>
                </a:solidFill>
                <a:latin typeface="Aptos"/>
              </a:rPr>
              <a:t>User enters natural text; auto mode routes to /pipeline/symptoms with advanced parser enabled.</a:t>
            </a:r>
          </a:p>
        </p:txBody>
      </p:sp>
      <p:sp>
        <p:nvSpPr>
          <p:cNvPr id="20" name="Shape 20"/>
          <p:cNvSpPr/>
          <p:nvPr/>
        </p:nvSpPr>
        <p:spPr>
          <a:xfrm>
            <a:off x="685800" y="2039112"/>
            <a:ext cx="10607040" cy="621792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8680" y="2185416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1">
                <a:solidFill>
                  <a:srgbClr val="38BDF8"/>
                </a:solidFill>
                <a:latin typeface="Aptos"/>
              </a:rPr>
              <a:t>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417320" y="2148840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ptos"/>
              </a:rPr>
              <a:t>Lab analysis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520440" y="2148840"/>
            <a:ext cx="7269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A9C2DA"/>
                </a:solidFill>
                <a:latin typeface="Aptos"/>
              </a:rPr>
              <a:t>User submits lab JSON; optional symptom text is merged into /pipeline/labs.</a:t>
            </a:r>
          </a:p>
        </p:txBody>
      </p:sp>
      <p:sp>
        <p:nvSpPr>
          <p:cNvPr id="24" name="Shape 24"/>
          <p:cNvSpPr/>
          <p:nvPr/>
        </p:nvSpPr>
        <p:spPr>
          <a:xfrm>
            <a:off x="685800" y="2752344"/>
            <a:ext cx="10607040" cy="621792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68680" y="28986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1">
                <a:solidFill>
                  <a:srgbClr val="38BDF8"/>
                </a:solidFill>
                <a:latin typeface="Aptos"/>
              </a:rPr>
              <a:t>3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417320" y="2862072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ptos"/>
              </a:rPr>
              <a:t>Report image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3520440" y="2862072"/>
            <a:ext cx="7269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A9C2DA"/>
                </a:solidFill>
                <a:latin typeface="Aptos"/>
              </a:rPr>
              <a:t>User uploads PNG/JPEG/WebP/BMP; backend OCR extracts report fields then runs diagnosis.</a:t>
            </a:r>
          </a:p>
        </p:txBody>
      </p:sp>
      <p:sp>
        <p:nvSpPr>
          <p:cNvPr id="28" name="Shape 28"/>
          <p:cNvSpPr/>
          <p:nvPr/>
        </p:nvSpPr>
        <p:spPr>
          <a:xfrm>
            <a:off x="685800" y="3465576"/>
            <a:ext cx="10607040" cy="621792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68680" y="361188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1">
                <a:solidFill>
                  <a:srgbClr val="38BDF8"/>
                </a:solidFill>
                <a:latin typeface="Aptos"/>
              </a:rPr>
              <a:t>4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417320" y="3575304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ptos"/>
              </a:rPr>
              <a:t>Clarification loop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520440" y="3575304"/>
            <a:ext cx="7269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A9C2DA"/>
                </a:solidFill>
                <a:latin typeface="Aptos"/>
              </a:rPr>
              <a:t>If diagnosis is uncertain, follow-up answers are sent to /pipeline/diagnosis/clarify.</a:t>
            </a:r>
          </a:p>
        </p:txBody>
      </p:sp>
      <p:sp>
        <p:nvSpPr>
          <p:cNvPr id="32" name="Shape 32"/>
          <p:cNvSpPr/>
          <p:nvPr/>
        </p:nvSpPr>
        <p:spPr>
          <a:xfrm>
            <a:off x="685800" y="4178808"/>
            <a:ext cx="10607040" cy="621792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68680" y="432511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1">
                <a:solidFill>
                  <a:srgbClr val="38BDF8"/>
                </a:solidFill>
                <a:latin typeface="Aptos"/>
              </a:rPr>
              <a:t>5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417320" y="4288536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ptos"/>
              </a:rPr>
              <a:t>Streaming chat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3520440" y="4288536"/>
            <a:ext cx="7269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A9C2DA"/>
                </a:solidFill>
                <a:latin typeface="Aptos"/>
              </a:rPr>
              <a:t>After analysis, follow-up questions stream from /chat/stream with session memory.</a:t>
            </a:r>
          </a:p>
        </p:txBody>
      </p:sp>
      <p:sp>
        <p:nvSpPr>
          <p:cNvPr id="36" name="Shape 36"/>
          <p:cNvSpPr/>
          <p:nvPr/>
        </p:nvSpPr>
        <p:spPr>
          <a:xfrm>
            <a:off x="685800" y="4892040"/>
            <a:ext cx="10607040" cy="621792"/>
          </a:xfrm>
          <a:prstGeom prst="round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68680" y="503834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1">
                <a:solidFill>
                  <a:srgbClr val="38BDF8"/>
                </a:solidFill>
                <a:latin typeface="Aptos"/>
              </a:rPr>
              <a:t>6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1417320" y="5001768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ptos"/>
              </a:rPr>
              <a:t>Doctor handoff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3520440" y="5001768"/>
            <a:ext cx="7269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A9C2DA"/>
                </a:solidFill>
                <a:latin typeface="Aptos"/>
              </a:rPr>
              <a:t>The doctors page uses browser geolocation and Google Maps search/directions.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frontend_next/src/app/page.tsx, frontend_next/src/components/medical/medical-chat.tsx, frontend_next/src/components/mental/mental-support-chat.tsx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Demo Screens to Review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Home page: bilingual Nabda entry point with assistant and doctor handoff actions.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Assistant page: full chat workspace with symptoms, labs JSON, report image upload, clarification, and streaming chat.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Doctors page: browser geolocation with Google Maps doctor search and directions.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Mental Support page: separate support chat showing guardrail status, model-loaded state, and latency when available.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Conclusion and Future Work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README.md and backend/docs/*.md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89611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1481328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04088" y="1508760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88720" y="1417320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Nabda implements a full medical-assistant prototype across Next.js and FastAPI, not only an isolated model demo.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286000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04088" y="2313432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88720" y="2221992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diagnosis path is evidence-fused: parser, validator, normalizer, rules, classifier, RAG, calibration, clarification, and safety metadata.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090672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04088" y="3118104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88720" y="3026664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active classifier shows 0.9915 saved-test accuracy and 0.9882 macro F1 over the targeted 49-label universe.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895344"/>
            <a:ext cx="384048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4088" y="3922776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88720" y="3831336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The latest pipeline run reports 0.8125 in-scope Top-1, 1.0000 Top-3, 1.0000 out-of-scope safe handling, and 0 unsafe confident diagnoses.</a:t>
            </a:r>
          </a:p>
        </p:txBody>
      </p:sp>
      <p:sp>
        <p:nvSpPr>
          <p:cNvPr id="28" name="Shape 28"/>
          <p:cNvSpPr/>
          <p:nvPr/>
        </p:nvSpPr>
        <p:spPr>
          <a:xfrm>
            <a:off x="685800" y="4700016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704088" y="4727448"/>
            <a:ext cx="3474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000" b="1">
                <a:solidFill>
                  <a:srgbClr val="061A2F"/>
                </a:solidFill>
                <a:latin typeface="Aptos"/>
              </a:rPr>
              <a:t>5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188720" y="4636008"/>
            <a:ext cx="9738360" cy="62179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0">
                <a:solidFill>
                  <a:srgbClr val="EAF6FF"/>
                </a:solidFill>
                <a:latin typeface="Aptos"/>
              </a:rPr>
              <a:t>Mental Support is intentionally separated from medical diagnosis and protected with deterministic safety guardrails.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backend/docs/RAG_SCOPE_AND_LIMITATIONS.md and backend/docs/MENTAL_HEALTH_MODEL_DEPLOYMENT.md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Future Work and Scalability</a:t>
            </a:r>
          </a:p>
        </p:txBody>
      </p:sp>
      <p:sp>
        <p:nvSpPr>
          <p:cNvPr id="16" name="Shape 16"/>
          <p:cNvSpPr/>
          <p:nvPr/>
        </p:nvSpPr>
        <p:spPr>
          <a:xfrm>
            <a:off x="731520" y="1325880"/>
            <a:ext cx="489204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60120" y="16002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900" b="1">
                <a:solidFill>
                  <a:srgbClr val="38BDF8"/>
                </a:solidFill>
                <a:latin typeface="Aptos"/>
              </a:rPr>
              <a:t>Model and Evaluation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51560" y="2240280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Broaden the indexed medical corpus before expanding beyond the 49-label scope.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51560" y="2898648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Retrain classifier and rebuild FAISS if the supported label universe changes.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051560" y="3557015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Add more cases per pathology and more out-of-scope safety cases.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051560" y="4215383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Validate full mental-support generation on a GPU host.</a:t>
            </a:r>
          </a:p>
        </p:txBody>
      </p:sp>
      <p:sp>
        <p:nvSpPr>
          <p:cNvPr id="22" name="Shape 22"/>
          <p:cNvSpPr/>
          <p:nvPr/>
        </p:nvSpPr>
        <p:spPr>
          <a:xfrm>
            <a:off x="6172200" y="1325880"/>
            <a:ext cx="489204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400800" y="16002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900" b="1">
                <a:solidFill>
                  <a:srgbClr val="22C55E"/>
                </a:solidFill>
                <a:latin typeface="Aptos"/>
              </a:rPr>
              <a:t>Deployment and Product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92240" y="2240280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Add CI thresholds once evaluation sets are stable enough for release gating.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492240" y="2898648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Monitor latency, load errors, refusals, crisis escalations, and confidence calibration.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492240" y="3557015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Localize crisis resources and extend multilingual safety tests.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492240" y="4215383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Harden production API-key, auth, and artifact-management workflows.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Nabda - Multilingual NLP Medical Assistant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3800" b="1">
                <a:solidFill>
                  <a:srgbClr val="FFFFFF"/>
                </a:solidFill>
                <a:latin typeface="Aptos"/>
              </a:rPr>
              <a:t>Tools and References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49808" y="28803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600" b="1">
                <a:solidFill>
                  <a:srgbClr val="38BDF8"/>
                </a:solidFill>
                <a:latin typeface="Aptos"/>
              </a:rPr>
              <a:t>10</a:t>
            </a:r>
          </a:p>
        </p:txBody>
      </p:sp>
      <p:sp>
        <p:nvSpPr>
          <p:cNvPr id="17" name="Shape 17"/>
          <p:cNvSpPr/>
          <p:nvPr/>
        </p:nvSpPr>
        <p:spPr>
          <a:xfrm>
            <a:off x="8732520" y="960120"/>
            <a:ext cx="2148840" cy="452628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942832" y="1874519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5800" b="1">
                <a:solidFill>
                  <a:srgbClr val="38BDF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Source: backend/requirements*.txt and frontend_next/package.json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16" name="Shape 16"/>
          <p:cNvSpPr/>
          <p:nvPr/>
        </p:nvSpPr>
        <p:spPr>
          <a:xfrm>
            <a:off x="731520" y="1325880"/>
            <a:ext cx="489204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60120" y="16002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900" b="1">
                <a:solidFill>
                  <a:srgbClr val="38BDF8"/>
                </a:solidFill>
                <a:latin typeface="Aptos"/>
              </a:rPr>
              <a:t>Runtime Stack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51560" y="2240280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Next.js 16.2.9, React 19.2.4, TypeScript, Tailwind CSS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51560" y="2898648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FastAPI 0.135.3, Uvicorn, Pydantic Settings, SQLAlchemy, JWT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051560" y="3557015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PaddleOCR, PaddlePaddle, OpenCV, NumPy, Pillow</a:t>
            </a:r>
          </a:p>
        </p:txBody>
      </p:sp>
      <p:sp>
        <p:nvSpPr>
          <p:cNvPr id="21" name="Shape 21"/>
          <p:cNvSpPr/>
          <p:nvPr/>
        </p:nvSpPr>
        <p:spPr>
          <a:xfrm>
            <a:off x="6172200" y="1325880"/>
            <a:ext cx="489204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22C55E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400800" y="160020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900" b="1">
                <a:solidFill>
                  <a:srgbClr val="22C55E"/>
                </a:solidFill>
                <a:latin typeface="Aptos"/>
              </a:rPr>
              <a:t>AI and Evaluation Stack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492240" y="2240280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ClinicalBERT, transformers, torch, FAISS, Gemini/OpenRouter provider abstraction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492240" y="2898648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Llama 3.2 3B QLoRA/LoRA adapter, PEFT, accelerate, safetensors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492240" y="3557015"/>
            <a:ext cx="4251960" cy="49377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- pytest, classifier/RAG/pipeline health checks, diagnostic report scripts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All content sourced from local repository files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66928" y="502920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"/>
              </a:rPr>
              <a:t>Codebase Sources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solidFill>
            <a:srgbClr val="123A63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13231" y="1417320"/>
            <a:ext cx="52943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Topic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153912" y="1417320"/>
            <a:ext cx="52943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Source Files</a:t>
            </a:r>
          </a:p>
        </p:txBody>
      </p:sp>
      <p:sp>
        <p:nvSpPr>
          <p:cNvPr id="19" name="Shape 19"/>
          <p:cNvSpPr/>
          <p:nvPr/>
        </p:nvSpPr>
        <p:spPr>
          <a:xfrm>
            <a:off x="640080" y="1892807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13231" y="1984248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Project overview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153912" y="1984248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README.md</a:t>
            </a:r>
          </a:p>
        </p:txBody>
      </p:sp>
      <p:sp>
        <p:nvSpPr>
          <p:cNvPr id="22" name="Shape 22"/>
          <p:cNvSpPr/>
          <p:nvPr/>
        </p:nvSpPr>
        <p:spPr>
          <a:xfrm>
            <a:off x="640080" y="2496312"/>
            <a:ext cx="10881360" cy="566928"/>
          </a:xfrm>
          <a:prstGeom prst="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13231" y="2587752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Backend API and endpoints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153912" y="2587752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backend/README.md, backend/app/main.py, backend/app/routers/*.py</a:t>
            </a:r>
          </a:p>
        </p:txBody>
      </p:sp>
      <p:sp>
        <p:nvSpPr>
          <p:cNvPr id="25" name="Shape 25"/>
          <p:cNvSpPr/>
          <p:nvPr/>
        </p:nvSpPr>
        <p:spPr>
          <a:xfrm>
            <a:off x="640080" y="3099816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13231" y="3191256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Frontend flows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153912" y="3191256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frontend_next/README.md, frontend_next/src/lib/api.ts, medical-chat.tsx</a:t>
            </a:r>
          </a:p>
        </p:txBody>
      </p:sp>
      <p:sp>
        <p:nvSpPr>
          <p:cNvPr id="28" name="Shape 28"/>
          <p:cNvSpPr/>
          <p:nvPr/>
        </p:nvSpPr>
        <p:spPr>
          <a:xfrm>
            <a:off x="640080" y="3703320"/>
            <a:ext cx="10881360" cy="566928"/>
          </a:xfrm>
          <a:prstGeom prst="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713231" y="3794759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Classifier metrics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6153912" y="3794759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backend/docs/CLASSIFIER_EVALUATION.md, classifier summary.json</a:t>
            </a:r>
          </a:p>
        </p:txBody>
      </p:sp>
      <p:sp>
        <p:nvSpPr>
          <p:cNvPr id="31" name="Shape 31"/>
          <p:cNvSpPr/>
          <p:nvPr/>
        </p:nvSpPr>
        <p:spPr>
          <a:xfrm>
            <a:off x="640080" y="4306824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713231" y="4398264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RAG scope and metrics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153912" y="4398264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backend/docs/RAG_SCOPE_AND_LIMITATIONS.md, faiss index_info.json</a:t>
            </a:r>
          </a:p>
        </p:txBody>
      </p:sp>
      <p:sp>
        <p:nvSpPr>
          <p:cNvPr id="34" name="Shape 34"/>
          <p:cNvSpPr/>
          <p:nvPr/>
        </p:nvSpPr>
        <p:spPr>
          <a:xfrm>
            <a:off x="640080" y="4910328"/>
            <a:ext cx="10881360" cy="566928"/>
          </a:xfrm>
          <a:prstGeom prst="rect">
            <a:avLst/>
          </a:prstGeom>
          <a:solidFill>
            <a:srgbClr val="0A213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713231" y="5001768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Pipeline evaluation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153912" y="5001768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backend/docs/PIPELINE_EVALUATION.md</a:t>
            </a:r>
          </a:p>
        </p:txBody>
      </p:sp>
      <p:sp>
        <p:nvSpPr>
          <p:cNvPr id="37" name="Shape 37"/>
          <p:cNvSpPr/>
          <p:nvPr/>
        </p:nvSpPr>
        <p:spPr>
          <a:xfrm>
            <a:off x="640080" y="5513832"/>
            <a:ext cx="10881360" cy="566928"/>
          </a:xfrm>
          <a:prstGeom prst="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713231" y="5605272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Mental support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153912" y="5605272"/>
            <a:ext cx="52943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00" b="0">
                <a:solidFill>
                  <a:srgbClr val="EAF6FF"/>
                </a:solidFill>
                <a:latin typeface="Aptos"/>
              </a:rPr>
              <a:t>backend/docs/MENTAL_HEALTH_MODEL_DEPLOYMENT.md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0058400" y="164592"/>
            <a:ext cx="2133295" cy="6693408"/>
          </a:xfrm>
          <a:prstGeom prst="rect">
            <a:avLst/>
          </a:prstGeom>
          <a:solidFill>
            <a:srgbClr val="0B2447">
              <a:alpha val="6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" y="6355080"/>
            <a:ext cx="11384280" cy="1828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02920" y="64008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800" b="0">
                <a:solidFill>
                  <a:srgbClr val="A9C2DA"/>
                </a:solidFill>
                <a:latin typeface="Aptos"/>
              </a:rPr>
              <a:t>FastAPI + Next.js + ClinicalBERT + FAISS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94360" y="502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700" b="1">
                <a:solidFill>
                  <a:srgbClr val="38BDF8"/>
                </a:solidFill>
                <a:latin typeface="Aptos"/>
              </a:rPr>
              <a:t>Nabda Project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94360" y="1417320"/>
            <a:ext cx="832104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21792" y="2743200"/>
            <a:ext cx="704088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2000" b="0">
                <a:solidFill>
                  <a:srgbClr val="A9C2DA"/>
                </a:solidFill>
                <a:latin typeface="Aptos"/>
              </a:rPr>
              <a:t>Questions time</a:t>
            </a:r>
          </a:p>
        </p:txBody>
      </p:sp>
      <p:sp>
        <p:nvSpPr>
          <p:cNvPr id="18" name="Shape 18"/>
          <p:cNvSpPr/>
          <p:nvPr/>
        </p:nvSpPr>
        <p:spPr>
          <a:xfrm>
            <a:off x="658368" y="3730752"/>
            <a:ext cx="1965960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58368" y="37307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100" b="1">
                <a:solidFill>
                  <a:srgbClr val="EAF6FF"/>
                </a:solidFill>
                <a:latin typeface="Aptos"/>
              </a:rPr>
              <a:t>Diagnosis Pipeline</a:t>
            </a:r>
          </a:p>
        </p:txBody>
      </p:sp>
      <p:sp>
        <p:nvSpPr>
          <p:cNvPr id="20" name="Shape 20"/>
          <p:cNvSpPr/>
          <p:nvPr/>
        </p:nvSpPr>
        <p:spPr>
          <a:xfrm>
            <a:off x="2807208" y="3730752"/>
            <a:ext cx="1965960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2807208" y="37307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100" b="1">
                <a:solidFill>
                  <a:srgbClr val="EAF6FF"/>
                </a:solidFill>
                <a:latin typeface="Aptos"/>
              </a:rPr>
              <a:t>RAG + Classifier</a:t>
            </a:r>
          </a:p>
        </p:txBody>
      </p:sp>
      <p:sp>
        <p:nvSpPr>
          <p:cNvPr id="22" name="Shape 22"/>
          <p:cNvSpPr/>
          <p:nvPr/>
        </p:nvSpPr>
        <p:spPr>
          <a:xfrm>
            <a:off x="4956048" y="3730752"/>
            <a:ext cx="1965960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4956048" y="37307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100" b="1">
                <a:solidFill>
                  <a:srgbClr val="EAF6FF"/>
                </a:solidFill>
                <a:latin typeface="Aptos"/>
              </a:rPr>
              <a:t>Safety Guardrails</a:t>
            </a:r>
          </a:p>
        </p:txBody>
      </p:sp>
      <p:sp>
        <p:nvSpPr>
          <p:cNvPr id="24" name="Shape 24"/>
          <p:cNvSpPr/>
          <p:nvPr/>
        </p:nvSpPr>
        <p:spPr>
          <a:xfrm>
            <a:off x="7104888" y="3730752"/>
            <a:ext cx="1965960" cy="384048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7104888" y="37307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ctr"/>
            <a:r>
              <a:rPr lang="en-US" sz="1100" b="1">
                <a:solidFill>
                  <a:srgbClr val="EAF6FF"/>
                </a:solidFill>
                <a:latin typeface="Aptos"/>
              </a:rPr>
              <a:t>Frontend Demo</a:t>
            </a:r>
          </a:p>
        </p:txBody>
      </p:sp>
      <p:sp>
        <p:nvSpPr>
          <p:cNvPr id="26" name="Shape 26"/>
          <p:cNvSpPr/>
          <p:nvPr/>
        </p:nvSpPr>
        <p:spPr>
          <a:xfrm>
            <a:off x="8046720" y="1097280"/>
            <a:ext cx="3383280" cy="4480560"/>
          </a:xfrm>
          <a:prstGeom prst="roundRect">
            <a:avLst/>
          </a:prstGeom>
          <a:solidFill>
            <a:srgbClr val="0E2A4D"/>
          </a:solidFill>
          <a:ln w="12700">
            <a:solidFill>
              <a:srgbClr val="123A63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321040" y="14173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800" b="1">
                <a:solidFill>
                  <a:srgbClr val="38BDF8"/>
                </a:solidFill>
                <a:latin typeface="Aptos"/>
              </a:rPr>
              <a:t>Project Scope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321040" y="2011680"/>
            <a:ext cx="278892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Symptom triage and follow-up</a:t>
            </a:r>
          </a:p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Medical report OCR and lab parsing</a:t>
            </a:r>
          </a:p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AI diagnosis fusion with safety checks</a:t>
            </a:r>
          </a:p>
          <a:p>
            <a:pPr algn="l"/>
            <a:r>
              <a:rPr lang="en-US" sz="1500" b="0">
                <a:solidFill>
                  <a:srgbClr val="EAF6FF"/>
                </a:solidFill>
                <a:latin typeface="Aptos"/>
              </a:rPr>
              <a:t>Mental support as a separate guarded feature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bda">
  <a:themeElements>
    <a:clrScheme name="Nabda Dark">
      <a:dk1>
        <a:srgbClr val="061A2F"/>
      </a:dk1>
      <a:lt1>
        <a:srgbClr val="FFFFFF"/>
      </a:lt1>
      <a:dk2>
        <a:srgbClr val="0B2447"/>
      </a:dk2>
      <a:lt2>
        <a:srgbClr val="EAF6FF"/>
      </a:lt2>
      <a:accent1>
        <a:srgbClr val="38BDF8"/>
      </a:accent1>
      <a:accent2>
        <a:srgbClr val="22C55E"/>
      </a:accent2>
      <a:accent3>
        <a:srgbClr val="FBBF24"/>
      </a:accent3>
      <a:accent4>
        <a:srgbClr val="FB7185"/>
      </a:accent4>
      <a:accent5>
        <a:srgbClr val="A9C2DA"/>
      </a:accent5>
      <a:accent6>
        <a:srgbClr val="123A63"/>
      </a:accent6>
      <a:hlink>
        <a:srgbClr val="38BDF8"/>
      </a:hlink>
      <a:folHlink>
        <a:srgbClr val="A9C2DA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Nabd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5000"/>
                <a:satMod val="110000"/>
              </a:schemeClr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43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Nabda - Multilingual NLP Medical Assistant</dc:title>
  <dc:subject>Graduation project presentation</dc:subject>
  <dc:creator>Codex</dc:creator>
  <cp:lastModifiedBy>Codex</cp:lastModifiedBy>
  <dcterms:created xsi:type="dcterms:W3CDTF">2026-06-30T00:00:00Z</dcterms:created>
  <dcterms:modified xsi:type="dcterms:W3CDTF">2026-06-30T00:00:00Z</dcterms:modified>
</cp:coreProperties>
</file>